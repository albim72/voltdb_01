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3F7FB"/>
                </a:solidFill>
              </a:rPr>
              <a:t>VoltDB w Kubernetes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658368" y="17373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B4C7"/>
                </a:solidFill>
              </a:rPr>
              <a:t>Dzień 1: podstawy, konfiguracja i pierwsze uruchomienie klastra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46888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8E61FF">
              <a:alpha val="92000"/>
            </a:srgbClr>
          </a:solidFill>
          <a:ln w="12700">
            <a:solidFill>
              <a:srgbClr val="8E61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537460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prezentacja dla uczestników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310128" y="24688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3980FF">
              <a:alpha val="92000"/>
            </a:srgbClr>
          </a:solidFill>
          <a:ln w="12700">
            <a:solidFill>
              <a:srgbClr val="398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537460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8 godzin praktyki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285232" y="2468880"/>
            <a:ext cx="3200400" cy="310896"/>
          </a:xfrm>
          <a:prstGeom prst="roundRect">
            <a:avLst>
              <a:gd name="adj" fmla="val 23529"/>
            </a:avLst>
          </a:prstGeom>
          <a:solidFill>
            <a:srgbClr val="FFB454">
              <a:alpha val="92000"/>
            </a:srgbClr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53746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mechanizmy, nie notatki prowadzącego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95928"/>
            <a:ext cx="21122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Kubernetes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20440" y="38862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3995928"/>
            <a:ext cx="170078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Helm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97880" y="3886200"/>
            <a:ext cx="2606040" cy="749808"/>
          </a:xfrm>
          <a:prstGeom prst="roundRect">
            <a:avLst>
              <a:gd name="adj" fmla="val 9756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3995928"/>
            <a:ext cx="238658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VoltDB Operator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61120" y="3886200"/>
            <a:ext cx="2514600" cy="749808"/>
          </a:xfrm>
          <a:prstGeom prst="roundRect">
            <a:avLst>
              <a:gd name="adj" fmla="val 9756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3995928"/>
            <a:ext cx="22951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VoltDB Cluster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063240" y="4261104"/>
            <a:ext cx="45720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40680" y="4261104"/>
            <a:ext cx="45720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4261104"/>
            <a:ext cx="45720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DNIA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umiesz po Dniu 1?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Nie uczysz się komend na pamięć. Budujesz model działania klastra.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D6FF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8176" y="17373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czytać stan klastra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08176" y="21396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4C7"/>
                </a:solidFill>
              </a:rPr>
              <a:t>kubectl get / describe / logs / events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407408" y="15727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D6FF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57216" y="17373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rozumieć obiekty K8s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57216" y="21396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4C7"/>
                </a:solidFill>
              </a:rPr>
              <a:t>pod, deployment, service, namespace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156448" y="15727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D6FF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06256" y="17373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czytać Helm values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06256" y="21396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4C7"/>
                </a:solidFill>
              </a:rPr>
              <a:t>co jest konfiguracją klastra, a co bazy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58368" y="353872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D6FF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08176" y="37033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uruchomić VoltDB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08176" y="41056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4C7"/>
                </a:solidFill>
              </a:rPr>
              <a:t>release Helm + Operator + pody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407408" y="353872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D6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57216" y="37033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wejść do bazy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157216" y="41056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4C7"/>
                </a:solidFill>
              </a:rPr>
              <a:t>sqlcmd, schema, dane testowe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156448" y="353872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D6FF"/>
                </a:solidFill>
              </a:rPr>
              <a:t>06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06256" y="37033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zobaczyć metryki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06256" y="41056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4C7"/>
                </a:solidFill>
              </a:rPr>
              <a:t>/metrics → Prometheus → Grafana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8 godzin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Każdy blok kończy się zadaniem, które sprawdza mechanizm w praktyce.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68680" y="1865376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09:00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Model VoltDB i sens uruchamiania w Kubernetes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mechanizmy + zadania 1–4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423160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975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10:00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19751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Kubernetes basics dla baz danych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06640" y="1975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pody, deployment, service, namespace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2980944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32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11:15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2532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Stan aplikacji i samonaprawianie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2532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awarie, restart, diagnostyka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3538728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906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12:15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0906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Helm, values.yaml, Operator i CRD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3090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deklaratywny model konfiguracji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4096512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6484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13:45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36484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VoltDB cluster od zera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06640" y="36484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repo, licencja, release, pody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4654296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15:00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83080" y="4206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Dostęp do bazy i pierwsza tabela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06640" y="4206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sqlcmd, schema, dane, zapytania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" y="5212080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64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16:00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783080" y="4764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Monitoring: Prometheus i Grafana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06640" y="4764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metryki, endpointy, scrape targets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" y="5769864"/>
            <a:ext cx="10424160" cy="0"/>
          </a:xfrm>
          <a:prstGeom prst="line">
            <a:avLst/>
          </a:prstGeom>
          <a:noFill/>
          <a:ln w="12700">
            <a:solidFill>
              <a:srgbClr val="2B4566">
                <a:alpha val="8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321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16:45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783080" y="5321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Lab końcowy: awaria, diagnoza, raport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06640" y="5321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4C7"/>
                </a:solidFill>
              </a:rPr>
              <a:t>mini-egzamin praktyczny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CAŁOŚCI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systemu: od laptopa do klastra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Wszystkie późniejsze komendy są tylko sposobem dotykania tej mapy.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52928"/>
            <a:ext cx="13350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terminal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2029968"/>
            <a:ext cx="12893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kubectl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36576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3767328"/>
            <a:ext cx="12893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helm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27432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3243A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2852928"/>
            <a:ext cx="17922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Kubernetes API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98080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2852928"/>
            <a:ext cx="160934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Operator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VoltDB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921240" y="27432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0968" y="2852928"/>
            <a:ext cx="15636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VoltDB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Pods/Nodes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194560" y="2944368"/>
            <a:ext cx="548640" cy="-676656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194560" y="3401568"/>
            <a:ext cx="548640" cy="576072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51960" y="2267712"/>
            <a:ext cx="640080" cy="73152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51960" y="3977640"/>
            <a:ext cx="640080" cy="-594360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03720" y="3182112"/>
            <a:ext cx="594360" cy="0"/>
          </a:xfrm>
          <a:prstGeom prst="line">
            <a:avLst/>
          </a:prstGeom>
          <a:noFill/>
          <a:ln w="21590">
            <a:solidFill>
              <a:srgbClr val="8E61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26880" y="3182112"/>
            <a:ext cx="594360" cy="0"/>
          </a:xfrm>
          <a:prstGeom prst="line">
            <a:avLst/>
          </a:prstGeom>
          <a:noFill/>
          <a:ln w="2159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8580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Dwa światy zarządzania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" y="5394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4C7"/>
                </a:solidFill>
              </a:rPr>
              <a:t>kubectl/helm zarządzają klastrem i konfiguracją. sqlcmd/voltadmin dotykają danych i logiki bazy.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VOLTDB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Czym jest VoltDB?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Baza transakcyjna projektowana pod szybkie decyzje na danych, a nie tylko przechowywanie rekordów.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087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</a:rPr>
              <a:t>Mechanizm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Konsekwencja praktyczna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46177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F3F7FB"/>
                </a:solidFill>
              </a:rPr>
              <a:t>dane i indeksy pracują przede wszystkim w pamięci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klaster dzieli pracę między partycje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procedury składowane ograniczają koszt komunikacji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transakcje mają być szybkie, krótkie i przewidywalne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6177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F3F7FB"/>
                </a:solidFill>
              </a:rPr>
              <a:t>model danych jest częścią architektury wydajności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zły klucz partycjonowania boli bardziej niż wolny SQL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latencja sieciowa staje się elementem projektu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monitoring jest układem nerwowym, nie dodatkiem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VOLTDB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VoltDB kontra klasyczna baza SQL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To nadal SQL, ale inne są założenia pracy systemu.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31520" y="1444752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72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D6FF"/>
                </a:solidFill>
              </a:rPr>
              <a:t>Obszar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44475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572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D6FF"/>
                </a:solidFill>
              </a:rPr>
              <a:t>Klasyczna baza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44475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572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D6FF"/>
                </a:solidFill>
              </a:rPr>
              <a:t>VoltDB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1975104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0939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</a:rPr>
              <a:t>Cel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197510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0939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ogólne OLTP/OLAP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197510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0939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bardzo szybkie transakcje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26883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807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</a:rPr>
              <a:t>Pamięć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688336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807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dysk + cache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0" y="2688336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807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RAM jako centrum pracy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" y="3401568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520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</a:rPr>
              <a:t>Skalowanie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340156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często pionowe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858000" y="340156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klaster i partycje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31520" y="411480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</a:rPr>
              <a:t>Logika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51760" y="411480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4233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aplikacja lub DB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858000" y="411480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4233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procedury blisko danych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31520" y="4828032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946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651760" y="4828032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4946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możliwy, ale zależny od bazy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858000" y="4828032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4946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7FB"/>
                </a:solidFill>
              </a:rPr>
              <a:t>Helm + Operator + pody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MECHANIZM DANYCH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Partycje: najważniejsza decyzja projektowa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W VoltDB szybkość rodzi się wtedy, gdy dane i operacja spotykają się w tej samej partycji.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807208"/>
            <a:ext cx="1700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transakcja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runner_id = 42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6974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807208"/>
            <a:ext cx="142646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router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partycji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73736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3243A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1847088"/>
            <a:ext cx="1472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partycja 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2788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2898648"/>
            <a:ext cx="1472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partycja 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3840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3243A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3950208"/>
            <a:ext cx="1472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partycja 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51760" y="3127248"/>
            <a:ext cx="64008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3127248"/>
            <a:ext cx="77724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09244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Dobre pytanie projektowe: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92440" y="2331720"/>
            <a:ext cx="3383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F3F7FB"/>
                </a:solidFill>
              </a:rPr>
              <a:t>który identyfikator rozkłada ruch równomiernie?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czy transakcja dotyka jednej partycji?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czy operacje przekrojowe są rzadkie?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czy klucz nie tworzy „gorących” punktów?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Kubernetes: deklarowany stan kontra stan rzeczywisty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Nie mówisz: uruchom kontener. Mówisz: chcę, żeby system miał taki kształt.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52928"/>
            <a:ext cx="165506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YAML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pożądany stan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852928"/>
            <a:ext cx="138074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API 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27432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2852928"/>
            <a:ext cx="138074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01000" y="27432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2852928"/>
            <a:ext cx="138074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Scheduler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95560" y="27432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05288" y="2852928"/>
            <a:ext cx="11064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Pods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3182112"/>
            <a:ext cx="713232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3480" y="3182112"/>
            <a:ext cx="713232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182112"/>
            <a:ext cx="713232" cy="0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3182112"/>
            <a:ext cx="713232" cy="0"/>
          </a:xfrm>
          <a:prstGeom prst="line">
            <a:avLst/>
          </a:prstGeom>
          <a:noFill/>
          <a:ln w="21590">
            <a:solidFill>
              <a:srgbClr val="8E61F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7240" y="4800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Mechanizm pętli sterowania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8B4C7"/>
                </a:solidFill>
              </a:rPr>
              <a:t>Kubernetes stale porównuje: „co zadeklarowano?” z „co działa naprawdę?”. Gdy pod znika, system próbuje wrócić do zadeklarowanego stanu.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Pod, Deployment, Service, Namespace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Cztery pojęcia, które muszą wejść pod skórę.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739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D6FF"/>
                </a:solidFill>
              </a:rPr>
              <a:t>Pod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2267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najmniejsza jednostka uruchomieniowa; jeden lub więcej kontenerów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831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80FF"/>
                </a:solidFill>
              </a:rPr>
              <a:t>Deployment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4325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kontroler utrzymujący pożądaną liczbę podów aplikacji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15544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7739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B7"/>
                </a:solidFill>
              </a:rPr>
              <a:t>Service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11112" y="2267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stały punkt dostępu do zmiennych podów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36118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831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454"/>
                </a:solidFill>
              </a:rPr>
              <a:t>Namespace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11112" y="4325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logiczna przestrzeń porządkująca zasoby klastra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1–3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1–3: przygotuj terminal i przestrzeń pracy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Celem nie jest „odpalenie komend”, tylko sprawdzenie, czy naprawdę masz wejście do klastra.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5212080" cy="2148840"/>
          </a:xfrm>
          <a:prstGeom prst="roundRect">
            <a:avLst>
              <a:gd name="adj" fmla="val 1702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55064"/>
            <a:ext cx="488289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version --client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version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current-context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5212080" cy="1417320"/>
          </a:xfrm>
          <a:prstGeom prst="roundRect">
            <a:avLst>
              <a:gd name="adj" fmla="val 2581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032504"/>
            <a:ext cx="488289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namespace voltdb-lab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set-context --current --namespace=voltdb-lab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namespaces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view --minify | grep namespace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60020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Sprawdź rozumienie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2377440"/>
            <a:ext cx="41605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F3F7FB"/>
                </a:solidFill>
              </a:rPr>
              <a:t>Co jest klientem, a co klastrem?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Co oznacza aktualny kontekst?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Dlaczego namespace chroni przed chaosem?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Jak rozpoznasz brak uprawnień?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4–6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4–6: pierwszy Deployment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Zanim uruchomisz bazę, zobacz zwykły mechanizm utrzymywania aplikacji.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85800" y="1389888"/>
            <a:ext cx="4937760" cy="4297680"/>
          </a:xfrm>
          <a:prstGeom prst="roundRect">
            <a:avLst>
              <a:gd name="adj" fmla="val 851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36192"/>
            <a:ext cx="4608576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nginx-demo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nginx-demo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nginx-demo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nginx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nginx:latest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1572768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719072"/>
            <a:ext cx="49286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nginx-deployment.yaml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deployment nginx-demo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Obserwuj: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72200" y="3749040"/>
            <a:ext cx="4800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F3F7FB"/>
                </a:solidFill>
              </a:rPr>
              <a:t>czy powstały 2 pody?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czy każdy pod ma unikalną nazwę?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czy Deployment wie, ile replik ma istnieć?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co oznaczają kolumny READY, STATUS, RESTARTS?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7–9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7–9: Service jako stały adres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Pody są nietrwałe. Service daje stabilny punkt wejścia do zmiennego świata.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898648"/>
            <a:ext cx="21579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nginx-demo-service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8745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3243A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984248"/>
            <a:ext cx="13350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Pod 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971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3243A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3081528"/>
            <a:ext cx="13350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Pod 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40690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4178808"/>
            <a:ext cx="13350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Pod 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po restarcie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3182112"/>
            <a:ext cx="1508760" cy="-969264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00400" y="3182112"/>
            <a:ext cx="1508760" cy="128016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0" y="3182112"/>
            <a:ext cx="1508760" cy="1225296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29400" y="1600200"/>
            <a:ext cx="4754880" cy="2514600"/>
          </a:xfrm>
          <a:prstGeom prst="roundRect">
            <a:avLst>
              <a:gd name="adj" fmla="val 1455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746504"/>
            <a:ext cx="44256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nginx-service.yaml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services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service nginx-demo-service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service/nginx-demo-service 8080:80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629400" y="47091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54"/>
                </a:solidFill>
              </a:rPr>
              <a:t>Mechanizm: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8120" y="47091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A8B4C7"/>
                </a:solidFill>
              </a:rPr>
              <a:t>Service wybiera pody po etykietach. Adres usługi zostaje stabilny, nawet gdy pod zostanie wymieniony.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10–12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10–12: samonaprawianie w praktyce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Kubernetes nie opłakuje poda. Tworzy następny.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4937760" cy="1325880"/>
          </a:xfrm>
          <a:prstGeom prst="roundRect">
            <a:avLst>
              <a:gd name="adj" fmla="val 2759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37944"/>
            <a:ext cx="46085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&lt;NAZWA_PODA&gt;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210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Co zapisujesz w raporcie?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42976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F3F7FB"/>
                </a:solidFill>
              </a:rPr>
              <a:t>jaki pod usunąłeś?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jak długo trwało odtworzenie?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czy nazwa była identyczna?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który kontroler zareagował?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20116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121408"/>
            <a:ext cx="17922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stan pożądany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replicas: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3832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FF6B6B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3493008"/>
            <a:ext cx="17922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awaria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1 pod znika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26974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2807208"/>
            <a:ext cx="16093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reakcja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nowy pod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2788920"/>
            <a:ext cx="0" cy="594360"/>
          </a:xfrm>
          <a:prstGeom prst="line">
            <a:avLst/>
          </a:prstGeom>
          <a:noFill/>
          <a:ln w="2159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3767328"/>
            <a:ext cx="685800" cy="-612648"/>
          </a:xfrm>
          <a:prstGeom prst="line">
            <a:avLst/>
          </a:prstGeom>
          <a:noFill/>
          <a:ln w="2159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BAZY W KUBERNETES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Dlaczego baza danych w Kubernetes jest trudniejsza?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Aplikacja może zapomnieć. Baza danych nie ma tego luksusu.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73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</a:rPr>
              <a:t>trwałość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2176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8B4C7"/>
                </a:solidFill>
              </a:rPr>
              <a:t>dane muszą przeżyć restart poda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434840" y="157276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773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</a:rPr>
              <a:t>kolejność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2176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8B4C7"/>
                </a:solidFill>
              </a:rPr>
              <a:t>węzły klastra muszą dołączyć we właściwy sposób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138160" y="157276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773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D6FF"/>
                </a:solidFill>
              </a:rPr>
              <a:t>tożsamość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9328" y="2176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8B4C7"/>
                </a:solidFill>
              </a:rPr>
              <a:t>pody bazy często potrzebują stabilnej nazwy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731520" y="340156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61FF"/>
                </a:solidFill>
              </a:rPr>
              <a:t>koordynacja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2688" y="40050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8B4C7"/>
                </a:solidFill>
              </a:rPr>
              <a:t>konfiguracja musi zgadzać się z rzeczywistym stanem DB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434840" y="340156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80FF"/>
                </a:solidFill>
              </a:rPr>
              <a:t>backup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6008" y="40050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8B4C7"/>
                </a:solidFill>
              </a:rPr>
              <a:t>snapshoty i restore są częścią operacji, nie dodatkiem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8138160" y="340156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</a:rPr>
              <a:t>metryki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39328" y="40050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8B4C7"/>
                </a:solidFill>
              </a:rPr>
              <a:t>bez obserwowalności nie widzisz degradacji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Helm: instalacja jako release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Helm nie jest „ładniejszym kubectl”. To mechanizm parametryzowania całego zestawu zasobów.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70048"/>
            <a:ext cx="13350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Chart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szablony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25603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670048"/>
            <a:ext cx="15179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values.yaml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parametry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49240" y="25603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2670048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helm install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release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25603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3568" y="2670048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Kubernetes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obiekty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149840" y="256032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59568" y="2670048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działający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klaster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2962656"/>
            <a:ext cx="530352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63440" y="2962656"/>
            <a:ext cx="530352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78040" y="2962656"/>
            <a:ext cx="530352" cy="0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92640" y="2962656"/>
            <a:ext cx="530352" cy="0"/>
          </a:xfrm>
          <a:prstGeom prst="line">
            <a:avLst/>
          </a:prstGeom>
          <a:noFill/>
          <a:ln w="21590">
            <a:solidFill>
              <a:srgbClr val="8E61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4572000"/>
            <a:ext cx="10607040" cy="868680"/>
          </a:xfrm>
          <a:prstGeom prst="roundRect">
            <a:avLst>
              <a:gd name="adj" fmla="val 4211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718304"/>
            <a:ext cx="10277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mydb voltdb/voltdb --values values.yaml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VoltDB: kontroler znający semantykę bazy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Kubernetes wie, czym jest pod. Operator rozumie, czym jest klaster VoltDB.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304288"/>
            <a:ext cx="17007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Helm values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pożądany stan DB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304288"/>
            <a:ext cx="17007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VoltDBCluster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21945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7608" y="2304288"/>
            <a:ext cx="1883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Volt Operator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pętla sterowania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32520" y="21945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42248" y="2304288"/>
            <a:ext cx="1883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Stateful pods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VoltDB nodes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97480" y="2578608"/>
            <a:ext cx="64008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57800" y="2578608"/>
            <a:ext cx="64008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2578608"/>
            <a:ext cx="731520" cy="0"/>
          </a:xfrm>
          <a:prstGeom prst="line">
            <a:avLst/>
          </a:prstGeom>
          <a:noFill/>
          <a:ln w="21590">
            <a:solidFill>
              <a:srgbClr val="8E61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4069080"/>
            <a:ext cx="10058400" cy="1051560"/>
          </a:xfrm>
          <a:prstGeom prst="roundRect">
            <a:avLst>
              <a:gd name="adj" fmla="val 6957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Zasada dnia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880360" y="42793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Nie walcz z Operatorem. Zmieniaj stan przez Helm/kubectl, a nie ręcznie wewnątrz poda. W przeciwnym razie system będzie próbował „naprawić” twoje ręczne zmiany.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13–16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13–16: czytanie values.yaml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Values.yaml jest sterownią. To tutaj parametry stają się topologią klastra.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4709160" cy="4434840"/>
          </a:xfrm>
          <a:prstGeom prst="roundRect">
            <a:avLst>
              <a:gd name="adj" fmla="val 825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72184"/>
            <a:ext cx="4379976" cy="4142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voltdbVersion: "15.0.0"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clusterSpec: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replicas: 3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deployment: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metrics: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enabled: true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serviceSpec: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perpod: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metrics: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enabled: true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vmc: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897880" y="150876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Twoje zadanie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2267712"/>
            <a:ext cx="457200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F3F7FB"/>
                </a:solidFill>
              </a:rPr>
              <a:t>oznacz parametry klastra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oznacz parametry bazy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znajdź ustawienia metryk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znajdź ustawienia VMC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wskaż, które parametry wymagają licencji lub sekretów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17–19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17–19: Helm dry-run, czyli rentgen instalacji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Zanim cokolwiek dotknie klastra, zobacz manifesty, które Helm chce wygenerować.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5257800" cy="1143000"/>
          </a:xfrm>
          <a:prstGeom prst="roundRect">
            <a:avLst>
              <a:gd name="adj" fmla="val 3200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746504"/>
            <a:ext cx="49286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mydb voltdb/voltdb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--values voltdb-values-lab.yaml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--dry-run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--debug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Znajdź w wyniku: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43891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F3F7FB"/>
                </a:solidFill>
              </a:rPr>
              <a:t>release name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service dla klienta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pody lub zasób klastra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operator / CRD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metryki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VMC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sekrety / licencja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984248"/>
            <a:ext cx="1152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template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8745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84248"/>
            <a:ext cx="1152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+ values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875520" y="187452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5248" y="1984248"/>
            <a:ext cx="12435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= manifest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2167128"/>
            <a:ext cx="32004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55480" y="2167128"/>
            <a:ext cx="32004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333756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584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</a:rPr>
              <a:t>Mechanizm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09560" y="35844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A8B4C7"/>
                </a:solidFill>
              </a:rPr>
              <a:t>Dry-run jest próbą generalną. Pozwala wykryć błędy konfiguracji, zanim klastra dotknie prawdziwa instalacja.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INSTALACJA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Instalacja VoltDB: cztery składniki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W dokumentacji najprostsza ścieżka sprowadza się do release, chartu, wersji i licencji.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3243A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167128"/>
            <a:ext cx="20208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release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nazwa instancji, np. mydb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542032"/>
            <a:ext cx="54864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20574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167128"/>
            <a:ext cx="20208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chart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voltdb/voltdb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542032"/>
            <a:ext cx="548640" cy="0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46520" y="20574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3243A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167128"/>
            <a:ext cx="20208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version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global.voltdbVersion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2542032"/>
            <a:ext cx="54864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20574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2167128"/>
            <a:ext cx="202082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license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cluster.config.licenseXMLFile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3977640"/>
            <a:ext cx="10058400" cy="1234440"/>
          </a:xfrm>
          <a:prstGeom prst="roundRect">
            <a:avLst>
              <a:gd name="adj" fmla="val 2963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123944"/>
            <a:ext cx="97292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mydb voltdb/voltdb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global.voltdbVersion=15.0.0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--set-file cluster.config.licenseXMLFile=license.xml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cluster.clusterSpec.replicas=3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20–23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20–23: uruchom lub przeanalizuj klaster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Wariant praktyczny zależy od dostępności licencji i repozytoriów. Mechanizm jest ten sam.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087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</a:rPr>
              <a:t>Wariant A: instalacja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Wariant B: analiza bez instalacji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46177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F3F7FB"/>
                </a:solidFill>
              </a:rPr>
              <a:t>dodaj repozytorium Helm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sprawdź wersję chartu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uruchom helm install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obserwuj pody i service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6177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F3F7FB"/>
                </a:solidFill>
              </a:rPr>
              <a:t>uruchom dry-run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czytaj manifesty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narysuj przepływ zasobów</a:t>
            </a:r>
            <a:endParaRPr lang="en-US" sz="1450" dirty="0"/>
          </a:p>
          <a:p>
            <a:r>
              <a:rPr lang="en-US" sz="1450" dirty="0">
                <a:solidFill>
                  <a:srgbClr val="F3F7FB"/>
                </a:solidFill>
              </a:rPr>
              <a:t>wypisz możliwe punkty awarii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DIAGNOSTYKA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Pętla diagnostyczna: get → describe → logs → events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Diagnoza klastra przypomina badanie pacjenta: najpierw parametry, potem historia, potem głos z wnętrza.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78608"/>
            <a:ext cx="13350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co istnieje?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578608"/>
            <a:ext cx="16550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describe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dlaczego taki stan?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578608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logs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co mówi proces?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89720" y="24688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2578608"/>
            <a:ext cx="17922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events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co działo się w klastrze?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880360"/>
            <a:ext cx="100584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49240" y="2880360"/>
            <a:ext cx="1051560" cy="0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0" y="2880360"/>
            <a:ext cx="96012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4572000"/>
            <a:ext cx="10058400" cy="868680"/>
          </a:xfrm>
          <a:prstGeom prst="roundRect">
            <a:avLst>
              <a:gd name="adj" fmla="val 4211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718304"/>
            <a:ext cx="97292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--sort-by=.lastTimestamp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24–26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24–26: rozpoznaj błędy startu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Nie ucz się błędów jako listy. Ucz się ich źródeł.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1627632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</a:rPr>
              <a:t>Pending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8B4C7"/>
                </a:solidFill>
              </a:rPr>
              <a:t>brak zasobów, PVC, node selector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3456432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</a:rPr>
              <a:t>ImagePullBackOff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40782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8B4C7"/>
                </a:solidFill>
              </a:rPr>
              <a:t>obraz niedostępny lub brak uprawnień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263640" y="1627632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61FF"/>
                </a:solidFill>
              </a:rPr>
              <a:t>CrashLoopBackOff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2494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8B4C7"/>
                </a:solidFill>
              </a:rPr>
              <a:t>proces startuje i pada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263640" y="3456432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</a:rPr>
              <a:t>Running, ale nie Ready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40782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8B4C7"/>
                </a:solidFill>
              </a:rPr>
              <a:t>kontener działa, lecz health check nie przechodzi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DOSTĘP DO BAZY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Dostęp do VoltDB: kontener, port, narzędzie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Do klastra wchodzisz przez Kubernetes, ale z bazą rozmawiasz narzędziami VoltDB.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87168"/>
            <a:ext cx="15179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kubectl exec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2377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487168"/>
            <a:ext cx="14264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pod VoltDB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23774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2487168"/>
            <a:ext cx="11978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sqlcmd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23774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2487168"/>
            <a:ext cx="18379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SQL / schema / dane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2715768"/>
            <a:ext cx="68580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2715768"/>
            <a:ext cx="640080" cy="0"/>
          </a:xfrm>
          <a:prstGeom prst="line">
            <a:avLst/>
          </a:prstGeom>
          <a:noFill/>
          <a:ln w="2159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2715768"/>
            <a:ext cx="64008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4160520"/>
            <a:ext cx="10149840" cy="1143000"/>
          </a:xfrm>
          <a:prstGeom prst="roundRect">
            <a:avLst>
              <a:gd name="adj" fmla="val 3200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4306824"/>
            <a:ext cx="98206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mydb-voltdb-cluster-0 -- bash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sqlcmd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tables;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current_timestamp;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27–29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27–29: pierwsza tabela i dane testowe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Mały model danych do sprawdzenia ścieżki: klient → SQL → baza → wynik.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623560" cy="4663440"/>
          </a:xfrm>
          <a:prstGeom prst="roundRect">
            <a:avLst>
              <a:gd name="adj" fmla="val 784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72184"/>
            <a:ext cx="5294376" cy="4370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runners 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runner_id INTEGER NOT NULL,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VARCHAR(100),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distance_km FLOAT,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elevation_m INTEGER,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(runner_id)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runners VALUES (1, 'Anna', 34.0, 1800);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runners VALUES (2, 'Marek', 47.0, 2500);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runners VALUES (3, 'Kasia', 10.0, 300);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runners;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720840" y="1691640"/>
            <a:ext cx="4434840" cy="3566160"/>
          </a:xfrm>
          <a:prstGeom prst="roundRect">
            <a:avLst>
              <a:gd name="adj" fmla="val 2051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Po wykonaniu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2487168"/>
            <a:ext cx="36576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F3F7FB"/>
                </a:solidFill>
              </a:rPr>
              <a:t>sprawdź listę tabel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zapisz wynik SELECT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wyjaśnij, gdzie wykonuje się SQL</a:t>
            </a:r>
            <a:endParaRPr lang="en-US" sz="1400" dirty="0"/>
          </a:p>
          <a:p>
            <a:r>
              <a:rPr lang="en-US" sz="1400" dirty="0">
                <a:solidFill>
                  <a:srgbClr val="F3F7FB"/>
                </a:solidFill>
              </a:rPr>
              <a:t>wskaż, czym różni się schema od release Helm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30–32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30–32: zaprojektuj partycjonowanie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Najważniejsze pytanie: po czym rozdzielić dane, żeby transakcje były lokalne?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46304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Scenariusz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24028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System zbiera wyniki zawodników z punktów kontrolnych. Każdy wynik zawiera: runner_id, race_id, checkpoint_id, time, status.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8992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7FB"/>
                </a:solidFill>
              </a:rPr>
              <a:t>Wybierz klucz partycjonowania i uzasadnij wybór.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3794760"/>
            <a:ext cx="4206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F3F7FB"/>
                </a:solidFill>
              </a:rPr>
              <a:t>runner_id?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race_id?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checkpoint_id?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złożona logika w aplikacji?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4846320" cy="4251960"/>
          </a:xfrm>
          <a:prstGeom prst="roundRect">
            <a:avLst>
              <a:gd name="adj" fmla="val 1720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</a:rPr>
              <a:t>Kryteria oceny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2286000"/>
            <a:ext cx="41605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F3F7FB"/>
                </a:solidFill>
              </a:rPr>
              <a:t>równomierność rozkładu danych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lokalność transakcji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liczba zapytań przekrojowych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ryzyko gorących partycji</a:t>
            </a:r>
            <a:endParaRPr lang="en-US" sz="1420" dirty="0"/>
          </a:p>
          <a:p>
            <a:r>
              <a:rPr lang="en-US" sz="1420" dirty="0">
                <a:solidFill>
                  <a:srgbClr val="F3F7FB"/>
                </a:solidFill>
              </a:rPr>
              <a:t>łatwość diagnostyki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Monitoring: od węzła VoltDB do Grafany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Jeżeli nie widzisz metryk, system jest czarną skrzynką z diodą „może działa”.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852928"/>
            <a:ext cx="14264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VoltDB pod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/metrics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852928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metrics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per pod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2743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2852928"/>
            <a:ext cx="15179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Prometheus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scrape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27432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2852928"/>
            <a:ext cx="14264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Grafana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dashboards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469880" y="274320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79608" y="2852928"/>
            <a:ext cx="11064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Decyzja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operacyjna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3154680"/>
            <a:ext cx="777240" cy="0"/>
          </a:xfrm>
          <a:prstGeom prst="line">
            <a:avLst/>
          </a:prstGeom>
          <a:noFill/>
          <a:ln w="2159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3154680"/>
            <a:ext cx="73152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43800" y="3154680"/>
            <a:ext cx="731520" cy="0"/>
          </a:xfrm>
          <a:prstGeom prst="line">
            <a:avLst/>
          </a:prstGeom>
          <a:noFill/>
          <a:ln w="2159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21240" y="3154680"/>
            <a:ext cx="548640" cy="0"/>
          </a:xfrm>
          <a:prstGeom prst="line">
            <a:avLst/>
          </a:prstGeom>
          <a:noFill/>
          <a:ln w="21590">
            <a:solidFill>
              <a:srgbClr val="8E61F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Typowe metryki, których szukasz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2578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latencja, throughput, błędy transakcji, zużycie pamięci, CPU, health węzłów, opóźnienia replikacji, liczba restartów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33–36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33–36: włącz i sprawdź metryki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Mechanizm: każdy węzeł może udostępniać dane w formacie Prometheus przez endpoint /metrics.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5715000" cy="2514600"/>
          </a:xfrm>
          <a:prstGeom prst="roundRect">
            <a:avLst>
              <a:gd name="adj" fmla="val 1455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563624"/>
            <a:ext cx="538581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mydb voltdb/voltdb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--reuse-values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cluster.config.deployment.metrics.enabled=true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 cluster.serviceSpec.perpod.metrics.enabled=true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services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12280" y="1600200"/>
            <a:ext cx="4434840" cy="3383280"/>
          </a:xfrm>
          <a:prstGeom prst="roundRect">
            <a:avLst>
              <a:gd name="adj" fmla="val 2162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Sprawdź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77440"/>
            <a:ext cx="37490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60" dirty="0">
                <a:solidFill>
                  <a:srgbClr val="F3F7FB"/>
                </a:solidFill>
              </a:rPr>
              <a:t>czy istnieje service metryk?</a:t>
            </a:r>
            <a:endParaRPr lang="en-US" sz="1360" dirty="0"/>
          </a:p>
          <a:p>
            <a:r>
              <a:rPr lang="en-US" sz="1360" dirty="0">
                <a:solidFill>
                  <a:srgbClr val="F3F7FB"/>
                </a:solidFill>
              </a:rPr>
              <a:t>czy endpoint ma adresy?</a:t>
            </a:r>
            <a:endParaRPr lang="en-US" sz="1360" dirty="0"/>
          </a:p>
          <a:p>
            <a:r>
              <a:rPr lang="en-US" sz="1360" dirty="0">
                <a:solidFill>
                  <a:srgbClr val="F3F7FB"/>
                </a:solidFill>
              </a:rPr>
              <a:t>czy Prometheus widzi target?</a:t>
            </a:r>
            <a:endParaRPr lang="en-US" sz="1360" dirty="0"/>
          </a:p>
          <a:p>
            <a:r>
              <a:rPr lang="en-US" sz="1360" dirty="0">
                <a:solidFill>
                  <a:srgbClr val="F3F7FB"/>
                </a:solidFill>
              </a:rPr>
              <a:t>czy metryki są per pod?</a:t>
            </a:r>
            <a:endParaRPr lang="en-US" sz="1360" dirty="0"/>
          </a:p>
          <a:p>
            <a:r>
              <a:rPr lang="en-US" sz="1360" dirty="0">
                <a:solidFill>
                  <a:srgbClr val="F3F7FB"/>
                </a:solidFill>
              </a:rPr>
              <a:t>czy bezpieczeństwo/TLS wymaga dodatkowej konfiguracji?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37–39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37–39: Grafana jako pulpit obserwacji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Grafana nie naprawia bazy. Pomaga szybciej zobaczyć, gdzie system traci oddech.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13232" y="1325880"/>
            <a:ext cx="6309360" cy="3063240"/>
          </a:xfrm>
          <a:prstGeom prst="roundRect">
            <a:avLst>
              <a:gd name="adj" fmla="val 1194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472184"/>
            <a:ext cx="5980176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prometheus-community https://prometheus-community.github.io/helm-charts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update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monitoring prometheus-community/kube-prometheus-stack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--namespace monitoring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--create-namespace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-n monitoring service/monitoring-grafana 3000:80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452360" y="150876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Interpretacja wykresu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26680" y="2267712"/>
            <a:ext cx="33375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80" dirty="0">
                <a:solidFill>
                  <a:srgbClr val="F3F7FB"/>
                </a:solidFill>
              </a:rPr>
              <a:t>spadek throughputu bez restartów: szukaj bottlenecku</a:t>
            </a:r>
            <a:endParaRPr lang="en-US" sz="1280" dirty="0"/>
          </a:p>
          <a:p>
            <a:r>
              <a:rPr lang="en-US" sz="1280" dirty="0">
                <a:solidFill>
                  <a:srgbClr val="F3F7FB"/>
                </a:solidFill>
              </a:rPr>
              <a:t>wzrost restartów: szukaj CrashLoopBackOff</a:t>
            </a:r>
            <a:endParaRPr lang="en-US" sz="1280" dirty="0"/>
          </a:p>
          <a:p>
            <a:r>
              <a:rPr lang="en-US" sz="1280" dirty="0">
                <a:solidFill>
                  <a:srgbClr val="F3F7FB"/>
                </a:solidFill>
              </a:rPr>
              <a:t>rosnąca latencja: patrz na CPU, pamięć i partycje</a:t>
            </a:r>
            <a:endParaRPr lang="en-US" sz="1280" dirty="0"/>
          </a:p>
          <a:p>
            <a:r>
              <a:rPr lang="en-US" sz="1280" dirty="0">
                <a:solidFill>
                  <a:srgbClr val="F3F7FB"/>
                </a:solidFill>
              </a:rPr>
              <a:t>brak targetu: problem discovery lub service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Volt Management Center: szybki obraz bazy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CLI mówi precyzyjnie. Panel pokazuje rytm pracy systemu.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10607040" cy="4206240"/>
          </a:xfrm>
          <a:prstGeom prst="roundRect">
            <a:avLst>
              <a:gd name="adj" fmla="val 1739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7FB"/>
                </a:solidFill>
              </a:rPr>
              <a:t>Co warto zobaczyć w VMC?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43000" y="2651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727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761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status klastra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2651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761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węzły i health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651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727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2761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throughput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5320" y="2651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761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latencja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727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2728" y="3904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procedury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3904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tabele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727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3904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snapshoty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75320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3904488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B"/>
                </a:solidFill>
              </a:rPr>
              <a:t>alerty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50292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4C7"/>
                </a:solidFill>
              </a:rPr>
              <a:t>Pamiętaj: VMC ułatwia obserwację, ale operacje klastrowe w Kubernetes nadal powinny przechodzić przez Helm/kubectl.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40–43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40–43: mini-awaria kontrolowana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Nie chodzi o zepsucie. Chodzi o zobaczenie reakcji systemu pod presją.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440680" cy="2194560"/>
          </a:xfrm>
          <a:prstGeom prst="roundRect">
            <a:avLst>
              <a:gd name="adj" fmla="val 1667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09344"/>
            <a:ext cx="511149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mydb-voltdb-cluster-1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mydb-voltdb-cluster-1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mydb-voltdb-cluster-1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629400" y="164592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Odpowiedz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37744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F3F7FB"/>
                </a:solidFill>
              </a:rPr>
              <a:t>czy Kubernetes odtworzył poda?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czy klaster wrócił do stanu zdrowego?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czy dane testowe przetrwały?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co mówią logi?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jakie metryki zmieniły się podczas awarii?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ZADANIA 44–47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Zadanie 44–47: inwentaryzacja klastra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Na koniec dnia potrafisz opisać, co naprawdę działa w namespace.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55064"/>
            <a:ext cx="483717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-o wide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services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get values mydb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709160" cy="3246120"/>
          </a:xfrm>
          <a:prstGeom prst="roundRect">
            <a:avLst>
              <a:gd name="adj" fmla="val 2254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Raport uczestnika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2331720"/>
            <a:ext cx="3977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F3F7FB"/>
                </a:solidFill>
              </a:rPr>
              <a:t>ile jest podów VoltDB?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który service jest dla klienta?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który service dotyczy metryk?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jaka jest wersja release Helm?</a:t>
            </a:r>
            <a:endParaRPr lang="en-US" sz="1350" dirty="0"/>
          </a:p>
          <a:p>
            <a:r>
              <a:rPr lang="en-US" sz="1350" dirty="0">
                <a:solidFill>
                  <a:srgbClr val="F3F7FB"/>
                </a:solidFill>
              </a:rPr>
              <a:t>które wartości konfiguracji są jawnie ustawione?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DIAGNOSTYKA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Macierz diagnostyczna: objaw → pytanie → komenda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Zamiast paniki: trzy kolumny i chłodny skalpel.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270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D6FF"/>
                </a:solidFill>
              </a:rPr>
              <a:t>Objaw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417320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52704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D6FF"/>
                </a:solidFill>
              </a:rPr>
              <a:t>Pytanie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1417320"/>
            <a:ext cx="3566160" cy="411480"/>
          </a:xfrm>
          <a:prstGeom prst="roundRect">
            <a:avLst>
              <a:gd name="adj" fmla="val 17778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7848" y="152704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D6FF"/>
                </a:solidFill>
              </a:rPr>
              <a:t>Komenda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19202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05740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B454"/>
                </a:solidFill>
              </a:rPr>
              <a:t>Pod Pending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611880" y="19202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205740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czy są zasoby / PVC?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818120" y="19202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7848" y="205740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kubectl describe pod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85800" y="2578608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71576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B454"/>
                </a:solidFill>
              </a:rPr>
              <a:t>ImagePullBackOff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611880" y="2578608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1608" y="271576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czy obraz jest dostępny?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818120" y="2578608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7848" y="2715768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kubectl describe pod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85800" y="3236976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374136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B454"/>
                </a:solidFill>
              </a:rPr>
              <a:t>Service bez ruchu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3611880" y="3236976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3374136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czy selector trafia w etykiety?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818120" y="3236976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27848" y="3374136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kubectl get endpoints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85800" y="3895344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032504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B454"/>
                </a:solidFill>
              </a:rPr>
              <a:t>Brak metryk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3611880" y="3895344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403250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czy endpoint /metrics istnieje?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7818120" y="3895344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27848" y="4032504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kubectl get svc,endpoints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685800" y="4553712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690872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B454"/>
                </a:solidFill>
              </a:rPr>
              <a:t>Release nie taki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3611880" y="4553712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21608" y="469087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jakie values są aktywne?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7818120" y="4553712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0B1727"/>
          </a:solidFill>
          <a:ln w="15240">
            <a:solidFill>
              <a:srgbClr val="2B4566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27848" y="4690872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B"/>
                </a:solidFill>
              </a:rPr>
              <a:t>helm get values mydb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ZADAŃ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zadań na 8 godzin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47 zadań, od wejścia do klastra po awarię i monitoring.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465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Start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17465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454"/>
                </a:solidFill>
              </a:rPr>
              <a:t>1–3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8B4C7"/>
                </a:solidFill>
              </a:rPr>
              <a:t>narzędzia, kontekst, namespace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434840" y="15544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7465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K8s basics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17465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454"/>
                </a:solidFill>
              </a:rPr>
              <a:t>4–12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176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8B4C7"/>
                </a:solidFill>
              </a:rPr>
              <a:t>deployment, service, port-forward, delete pod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092440" y="15544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465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Helm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0" y="17465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454"/>
                </a:solidFill>
              </a:rPr>
              <a:t>13–19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176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8B4C7"/>
                </a:solidFill>
              </a:rPr>
              <a:t>values, dry-run, analiza manifestów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77240" y="33832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VoltDB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35753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454"/>
                </a:solidFill>
              </a:rPr>
              <a:t>20–32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005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8B4C7"/>
                </a:solidFill>
              </a:rPr>
              <a:t>install, diagnoza, sqlcmd, schema, partycje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4434840" y="33832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35753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454"/>
                </a:solidFill>
              </a:rPr>
              <a:t>33–39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4005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8B4C7"/>
                </a:solidFill>
              </a:rPr>
              <a:t>metryki, Prometheus, Grafana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092440" y="33832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Finał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41280" y="35753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454"/>
                </a:solidFill>
              </a:rPr>
              <a:t>40–47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21040" y="4005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8B4C7"/>
                </a:solidFill>
              </a:rPr>
              <a:t>awaria, inventory, raport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uczestnika po Dniu 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Jeżeli potrafisz odpowiedzieć bez patrzenia w slajdy, dzień zadziałał.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14356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Wyjaśniam, czym różni się pod od deploymentu.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6152" y="21854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Wiem, po co istnieje service i selector.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868680" y="29169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152" y="29352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Umiem sprawdzić aktualny namespace i kontekst.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868680" y="366674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36850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Rozumiem, czym jest Helm release.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868680" y="44165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6152" y="4434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Wiem, po co VoltDB używa Operatora.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02552" y="14356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Potrafię odczytać logi i events dla poda.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6355080" y="216712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02552" y="21854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Potrafię uruchomić sqlcmd lub opisać ścieżkę dostępu.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6355080" y="29169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02552" y="29352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Rozumiem podstawową rolę partycjonowania.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6355080" y="366674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02552" y="36850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Wiem, skąd Prometheus bierze metryki.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6355080" y="44165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D6FF"/>
                </a:solidFill>
              </a:rPr>
              <a:t>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02552" y="4434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3F7FB"/>
                </a:solidFill>
              </a:rPr>
              <a:t>Potrafię przygotować krótki raport stanu klastra.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PODSUMOWANIE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Najważniejszy model mentalny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Nie ma jednego „VoltDB w Kubernetes”. Jest relacja czterech warstw.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299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Kubernetes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zasoby i pętla stanu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0299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Helm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release i wartości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0299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03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Operator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semantyka klastra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920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288" y="2029968"/>
            <a:ext cx="21122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04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VoltDB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dane i transakcje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0" y="2404872"/>
            <a:ext cx="411480" cy="0"/>
          </a:xfrm>
          <a:prstGeom prst="line">
            <a:avLst/>
          </a:prstGeom>
          <a:noFill/>
          <a:ln w="21590">
            <a:solidFill>
              <a:srgbClr val="33D6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97880" y="2404872"/>
            <a:ext cx="411480" cy="0"/>
          </a:xfrm>
          <a:prstGeom prst="line">
            <a:avLst/>
          </a:prstGeom>
          <a:noFill/>
          <a:ln w="21590">
            <a:solidFill>
              <a:srgbClr val="398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41080" y="2404872"/>
            <a:ext cx="411480" cy="0"/>
          </a:xfrm>
          <a:prstGeom prst="line">
            <a:avLst/>
          </a:prstGeom>
          <a:noFill/>
          <a:ln w="21590">
            <a:solidFill>
              <a:srgbClr val="8E61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420624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3243A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Sedno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331720" y="44805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A8B4C7"/>
                </a:solidFill>
              </a:rPr>
              <a:t>Kubernetes utrzymuje infrastrukturę, Helm opisuje konfigurację, Operator pilnuje semantyki VoltDB, a sqlcmd pozwala pracować z danymi.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ŚCIĄGA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Ściąga komend Dnia 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Minimalny zestaw, który warto mieć pod palcami.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10698480" cy="4754880"/>
          </a:xfrm>
          <a:prstGeom prst="roundRect">
            <a:avLst>
              <a:gd name="adj" fmla="val 769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472184"/>
            <a:ext cx="10369296" cy="4462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Kubernetes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services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--sort-by=.lastTimestamp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service/&lt;svc&gt; 8080:80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Helm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list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&lt;release&gt; &lt;chart&gt; --values values.yaml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&lt;release&gt; &lt;chart&gt; --reuse-values --set key=value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get values &lt;release&gt;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VoltDB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&lt;voltdb-pod&gt; -- bash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sqlcmd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MATERIAŁY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Pliki robocze dla uczestnika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Z tych plików można przejść przez cały Dzień 1.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5120640" cy="2423160"/>
          </a:xfrm>
          <a:prstGeom prst="roundRect">
            <a:avLst>
              <a:gd name="adj" fmla="val 1509"/>
            </a:avLst>
          </a:prstGeom>
          <a:solidFill>
            <a:srgbClr val="06101B"/>
          </a:solidFill>
          <a:ln w="12700">
            <a:solidFill>
              <a:srgbClr val="25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55064"/>
            <a:ext cx="479145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voltdb-day1/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00-check-env.sh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nginx-deployment.yaml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nginx-service.yaml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voltdb-values-lab.yaml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sql/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runners.sql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README_DAY1.md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173736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182D48"/>
          </a:solidFill>
          <a:ln w="15240">
            <a:solidFill>
              <a:srgbClr val="2B456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7FB"/>
                </a:solidFill>
              </a:rPr>
              <a:t>Minimalny rytm pracy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34747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30" dirty="0">
                <a:solidFill>
                  <a:srgbClr val="F3F7FB"/>
                </a:solidFill>
              </a:rPr>
              <a:t>czytam plik</a:t>
            </a:r>
            <a:endParaRPr lang="en-US" sz="1430" dirty="0"/>
          </a:p>
          <a:p>
            <a:r>
              <a:rPr lang="en-US" sz="1430" dirty="0">
                <a:solidFill>
                  <a:srgbClr val="F3F7FB"/>
                </a:solidFill>
              </a:rPr>
              <a:t>uruchamiam komendę</a:t>
            </a:r>
            <a:endParaRPr lang="en-US" sz="1430" dirty="0"/>
          </a:p>
          <a:p>
            <a:r>
              <a:rPr lang="en-US" sz="1430" dirty="0">
                <a:solidFill>
                  <a:srgbClr val="F3F7FB"/>
                </a:solidFill>
              </a:rPr>
              <a:t>sprawdzam stan</a:t>
            </a:r>
            <a:endParaRPr lang="en-US" sz="1430" dirty="0"/>
          </a:p>
          <a:p>
            <a:r>
              <a:rPr lang="en-US" sz="1430" dirty="0">
                <a:solidFill>
                  <a:srgbClr val="F3F7FB"/>
                </a:solidFill>
              </a:rPr>
              <a:t>interpretuję wynik</a:t>
            </a:r>
            <a:endParaRPr lang="en-US" sz="1430" dirty="0"/>
          </a:p>
          <a:p>
            <a:r>
              <a:rPr lang="en-US" sz="1430" dirty="0">
                <a:solidFill>
                  <a:srgbClr val="F3F7FB"/>
                </a:solidFill>
              </a:rPr>
              <a:t>zapisuję w raporcie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ŹRÓDŁA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38404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Źródła techniczne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A8B4C7"/>
                </a:solidFill>
              </a:rPr>
              <a:t>Slajdy opierają się na dokumentacji producenta i oficjalnych dokumentach narzędzi.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B"/>
                </a:solidFill>
              </a:rPr>
              <a:t>Volt Operator for Kubernetes Release Notes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0" y="1417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D6FF"/>
                </a:solidFill>
              </a:rPr>
              <a:t>docs.voltdb.com/ReleaseNotes/operator.php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B"/>
                </a:solidFill>
              </a:rPr>
              <a:t>VoltDB Kubernetes Administrator’s Guide: Configuring the Database Cluster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35040" y="20756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D6FF"/>
                </a:solidFill>
              </a:rPr>
              <a:t>docs.voltdb.com/KubernetesAdmin/SetupChap.php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7340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B"/>
                </a:solidFill>
              </a:rPr>
              <a:t>VoltDB Kubernetes Administrator’s Guide: Managing Databases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35040" y="27340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D6FF"/>
                </a:solidFill>
              </a:rPr>
              <a:t>docs.voltdb.com/KubernetesAdmin/ManageChap.php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3924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B"/>
                </a:solidFill>
              </a:rPr>
              <a:t>VoltDB Kubernetes Administrator’s Guide: Monitoring Databases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35040" y="33924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D6FF"/>
                </a:solidFill>
              </a:rPr>
              <a:t>docs.voltdb.com/KubernetesAdmin/MonitorChap.php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0507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B"/>
                </a:solidFill>
              </a:rPr>
              <a:t>Kubernetes Documentation: Deployments, Services, kubectl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0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D6FF"/>
                </a:solidFill>
              </a:rPr>
              <a:t>kubernetes.io/docs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B"/>
                </a:solidFill>
              </a:rPr>
              <a:t>Grafana / Prometheus Helm ecosystem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35040" y="4709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D6FF"/>
                </a:solidFill>
              </a:rPr>
              <a:t>grafana.com/docs oraz prometheus-community Helm charts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B454"/>
                </a:solidFill>
              </a:rPr>
              <a:t>Uwaga: dokładne nazwy properties i wersje chartów warto zweryfikować przed szkoleniem w środowisku klienta.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"/>
            <a:ext cx="1508760" cy="0"/>
          </a:xfrm>
          <a:prstGeom prst="line">
            <a:avLst/>
          </a:prstGeom>
          <a:noFill/>
          <a:ln w="15240">
            <a:solidFill>
              <a:srgbClr val="3980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062472"/>
            <a:ext cx="1280160" cy="0"/>
          </a:xfrm>
          <a:prstGeom prst="line">
            <a:avLst/>
          </a:prstGeom>
          <a:noFill/>
          <a:ln w="15240">
            <a:solidFill>
              <a:srgbClr val="8E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ZAMKNIĘCIE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3F7FB"/>
                </a:solidFill>
              </a:rPr>
              <a:t>Dzień 1 kończy się wtedy, gdy klaster przestaje być mgłą.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4C7"/>
                </a:solidFill>
              </a:rPr>
              <a:t>Widzisz obiekty. Widzisz przepływy. Widzisz metryki. I wiesz, które narzędzie dotyka której warstwy.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7280" y="466344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182D48"/>
          </a:solidFill>
          <a:ln w="15240">
            <a:solidFill>
              <a:srgbClr val="33D6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4773168"/>
            <a:ext cx="12893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kubectl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466344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182D48"/>
          </a:solidFill>
          <a:ln w="15240">
            <a:solidFill>
              <a:srgbClr val="3980FF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4773168"/>
            <a:ext cx="12893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helm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466344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182D48"/>
          </a:solidFill>
          <a:ln w="15240">
            <a:solidFill>
              <a:srgbClr val="8E61FF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4773168"/>
            <a:ext cx="12893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operator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466344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182D48"/>
          </a:solidFill>
          <a:ln w="15240">
            <a:solidFill>
              <a:srgbClr val="FFB454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4773168"/>
            <a:ext cx="12893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sqlcmd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0" y="466344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182D48"/>
          </a:solidFill>
          <a:ln w="15240">
            <a:solidFill>
              <a:srgbClr val="6EE7B7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4773168"/>
            <a:ext cx="12893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0" y="6446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VoltDB + Kubernetes | Dzień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92840" y="6327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B4C7"/>
                </a:solidFill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EXE.EDU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VoltDB w Kubernetes - Dzień 1: podstawy i konfiguracja</dc:title>
  <dc:subject>VoltDB w Kubernetes - Dzień 1</dc:subject>
  <dc:creator>OpenAI</dc:creator>
  <cp:lastModifiedBy>OpenAI</cp:lastModifiedBy>
  <cp:revision>1</cp:revision>
  <dcterms:created xsi:type="dcterms:W3CDTF">2026-05-18T05:13:48Z</dcterms:created>
  <dcterms:modified xsi:type="dcterms:W3CDTF">2026-05-18T05:13:48Z</dcterms:modified>
</cp:coreProperties>
</file>